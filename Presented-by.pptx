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Open Sans Bold"/>
      <p:regular r:id="rId201314"/>
    </p:embeddedFont>
    <p:embeddedFont>
      <p:font typeface="Open Sans"/>
      <p:regular r:id="rId201315"/>
    </p:embeddedFont>
    <p:embeddedFont>
      <p:font typeface="Unbounded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2568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Presented by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199805"/>
            <a:ext cx="6296860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 Sri Vignesh Reddy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(2500032436)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D. Saishashank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(2500032397)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Gnana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(2500032614)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947664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Digital Banking Revolution: From ATMs to AI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00308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online banking evolved from physical terminals to intelligent, always-on financial platforms — delivering convenience, control, and security to customers everywhere.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9567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Dawn of Virtual Banking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746177"/>
            <a:ext cx="1004962" cy="6211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2670" y="2746177"/>
            <a:ext cx="222423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Early Beginnings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902670" y="3450134"/>
            <a:ext cx="222423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1980s: Telebanking and ATM networks started shifting routine banking tasks out of branches.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746177"/>
            <a:ext cx="1004962" cy="6211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04330" y="2746177"/>
            <a:ext cx="222423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First Virtual Bank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604330" y="3450134"/>
            <a:ext cx="222423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1995: Security First Network Bank launched — an early milestone for purely online banking services.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746177"/>
            <a:ext cx="1004962" cy="6211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05990" y="2746177"/>
            <a:ext cx="222423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Always‑On Access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305990" y="3450134"/>
            <a:ext cx="222423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Shift from branch reliance to 24/7 electronic access enabled by web and mobile platforms.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865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Core Features: Banking at Your Fingertips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92970"/>
            <a:ext cx="4637269" cy="26278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6251" y="1953617"/>
            <a:ext cx="5770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What users expect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766251" y="2437904"/>
            <a:ext cx="5770220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Account management: real-time balances, downloadable statements and easy reconciliation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 transfers: instant transfers between linked accounts, interbank rails like IMPS/RTGS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Bill payments: one-off and automated recurring payments with reminders and confirmation receipts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766251" y="4597202"/>
            <a:ext cx="5770220" cy="1039416"/>
          </a:xfrm>
          <a:prstGeom prst="roundRect">
            <a:avLst>
              <a:gd name="adj" fmla="val 7638"/>
            </a:avLst>
          </a:prstGeom>
          <a:solidFill>
            <a:srgbClr val="D6F5E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258" y="4890294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80499" y="4814491"/>
            <a:ext cx="49669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 cues: use primary theme color #26A688 for CTAs and confirmation states.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9567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Advanced Financial Services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746177"/>
            <a:ext cx="762378" cy="952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0087" y="2746177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Loan Requests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660087" y="3154859"/>
            <a:ext cx="246681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 eligibility checks, soft credit pulls, and fast approvals reduce friction for borrowers.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746177"/>
            <a:ext cx="762378" cy="9529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1746" y="2746177"/>
            <a:ext cx="246681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Multi‑Account Oversight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361746" y="3450134"/>
            <a:ext cx="246681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Consolidated view for savings, checking and investment portfolios with quick-switch account controls.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746177"/>
            <a:ext cx="762378" cy="9529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63406" y="2746177"/>
            <a:ext cx="246681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Transaction History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063406" y="3450134"/>
            <a:ext cx="246681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Detailed, exportable transaction logs and statements for budgeting, taxes and record‑keeping.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6970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Security Imperative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195711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Protecting user funds and data is non-negotiable. Threats include phishing, pharming, identity theft and account takeover. Security must be layered, transparent, and user-friendly.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575447"/>
            <a:ext cx="5203794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Encryption: SSL/TLS for data-in-transit, strong cryptographic standards for data-at-rest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Infrastructure: hardened servers, firewalls, and segmented networks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Monitoring: real-time threat detection and incident response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776" y="2332434"/>
            <a:ext cx="5203794" cy="2948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80727"/>
            <a:ext cx="6296860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Multi‑Factor Authentication (MFA)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5233360" y="1762125"/>
            <a:ext cx="3059730" cy="2213372"/>
          </a:xfrm>
          <a:prstGeom prst="roundRect">
            <a:avLst>
              <a:gd name="adj" fmla="val 3475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2764" y="1951534"/>
            <a:ext cx="2680923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Knowledge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22764" y="2343944"/>
            <a:ext cx="2680923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passwords, PINs, and device‑bound passcodes. Encourage unique, complex credentials and periodic rotation.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470390" y="1762125"/>
            <a:ext cx="3059830" cy="2213372"/>
          </a:xfrm>
          <a:prstGeom prst="roundRect">
            <a:avLst>
              <a:gd name="adj" fmla="val 3475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59794" y="1951534"/>
            <a:ext cx="2681022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Possession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59794" y="2343944"/>
            <a:ext cx="2681022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One-time passwords (SMS/APP), hardware tokens, and device fingerprinting for trusted devices.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233360" y="4152801"/>
            <a:ext cx="6296860" cy="1348085"/>
          </a:xfrm>
          <a:prstGeom prst="roundRect">
            <a:avLst>
              <a:gd name="adj" fmla="val 5705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2764" y="4342209"/>
            <a:ext cx="5918052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Inherence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22764" y="4734620"/>
            <a:ext cx="5918052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Biometrics: fingerprint, face recognition and behavioural signals to reduce friction while increasing assurance.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233360" y="5700415"/>
            <a:ext cx="6296860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 factors adaptively — step-up authentication for high‑risk actions like large transfers or new payee additions.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6396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Fintech Integration &amp; Emerging Tech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885579"/>
            <a:ext cx="5203794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AI / ML: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Real‑time fraud detection, personalised offers, credit decisioning and cash‑flow forecasting.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Blockchain: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Immutable ledgers for high‑value settlements and audit trails.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Biometrics: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Passive authentication and continuous trust signals for frictionless user experiences.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776" y="2332534"/>
            <a:ext cx="5203794" cy="2948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70409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Best Practices for the Digital User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705570"/>
            <a:ext cx="443001" cy="4430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84021" y="1705570"/>
            <a:ext cx="564619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Password Hygiene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884021" y="2082105"/>
            <a:ext cx="564619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unique passphrases, a password manager, and enable MFA for every account.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963565"/>
            <a:ext cx="443001" cy="4430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84021" y="2963565"/>
            <a:ext cx="564619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Vigilance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5884021" y="3340100"/>
            <a:ext cx="564619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account activity regularly and set alerts for unusual transactions.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221559"/>
            <a:ext cx="443001" cy="4430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884021" y="4221559"/>
            <a:ext cx="564619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Education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5884021" y="4598095"/>
            <a:ext cx="564619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 to recognise phishing and social engineering; never share OTPs or credentials.</a:t>
            </a:r>
            <a:endParaRPr lang="en-US" sz="1350" dirty="0"/>
          </a:p>
        </p:txBody>
      </p:sp>
      <p:sp>
        <p:nvSpPr>
          <p:cNvPr id="13" name="Shape 7"/>
          <p:cNvSpPr/>
          <p:nvPr/>
        </p:nvSpPr>
        <p:spPr>
          <a:xfrm>
            <a:off x="5233360" y="5334198"/>
            <a:ext cx="6296860" cy="953294"/>
          </a:xfrm>
          <a:prstGeom prst="roundRect">
            <a:avLst>
              <a:gd name="adj" fmla="val 7807"/>
            </a:avLst>
          </a:prstGeom>
          <a:solidFill>
            <a:srgbClr val="B6D6FC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0561" y="5573613"/>
            <a:ext cx="221451" cy="17720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809212" y="5544542"/>
            <a:ext cx="5543808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Tip: Enable transaction limits and add beneficiary whitelists for additional protection.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517749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Future of Banking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2273697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Expect hyper-personalised financial advice, immediate interbank settlement, and seamless global connectivity. Banks will blend AI-driven guidance with strong privacy-preserving security to create deeply personalised yet safe services.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233360" y="3695998"/>
            <a:ext cx="6296860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Hyper-personalisation: tailored budgets, saving nudges and investment suggestions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Instant payments: real‑time rails and immediate settlements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Global reach: integrated cross-border payments with transparent FX and fees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94432"/>
            <a:ext cx="6296860" cy="1070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Conclusion: A Secure Future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5233360" y="1997770"/>
            <a:ext cx="6296860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Banking is now a service you use — anytime, anywhere. Success depends on continuous innovation paired with robust security: encryption, adaptive MFA, and user education. The goal is to empower customers with control, clarity and confidence.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3217366"/>
            <a:ext cx="3070843" cy="2946102"/>
          </a:xfrm>
          <a:prstGeom prst="roundRect">
            <a:avLst>
              <a:gd name="adj" fmla="val 2442"/>
            </a:avLst>
          </a:prstGeom>
          <a:solidFill>
            <a:srgbClr val="FFFFFF"/>
          </a:solidFill>
          <a:ln w="19050">
            <a:solidFill>
              <a:srgbClr val="BCDB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3657" y="3407668"/>
            <a:ext cx="2690249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Next Steps for Teams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423657" y="4035921"/>
            <a:ext cx="2690249" cy="1937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Prioritise secure UX: reduce friction while increasing assurance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 in AI for fraud detection and personalization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Educate customers and build transparent security controls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59377" y="3217366"/>
            <a:ext cx="3070843" cy="2946102"/>
          </a:xfrm>
          <a:prstGeom prst="roundRect">
            <a:avLst>
              <a:gd name="adj" fmla="val 2442"/>
            </a:avLst>
          </a:prstGeom>
          <a:solidFill>
            <a:srgbClr val="FFFFFF"/>
          </a:solidFill>
          <a:ln w="19050">
            <a:solidFill>
              <a:srgbClr val="BC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49674" y="3407668"/>
            <a:ext cx="269024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Final Thought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649674" y="3768328"/>
            <a:ext cx="2690249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Innovation + vigilance = trust. Design systems that make secure banking effortless.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2026-09-26T05:00:59Z</dcterms:created>
  <dcterms:modified xsi:type="dcterms:W3CDTF">2026-09-26T05:00:59Z</dcterms:modified>
</cp:coreProperties>
</file>